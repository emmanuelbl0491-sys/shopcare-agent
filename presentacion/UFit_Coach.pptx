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IxDLfL7owUSu3B5Y2ywKUaAv+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26A14F-3416-4917-943B-EF3BA438EAF5}">
  <a:tblStyle styleId="{5126A14F-3416-4917-943B-EF3BA438EA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proyecto en una frase: Coach es un agente de IA que resuelve la postventa de UFit 24/7, reutilizando la arquitectura del curso (backend 06 y frontend 02).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Hook: la tienda crece, pero la postventa es manual. Aclarar que las cifras son supuestos del caso de estudio, no datos históricos.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el proceso actual paso a paso y los cuatro dolores. Cada uno se conecta con un pilar de la solución.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Tres pilares, uno por cada grupo de dolores: inconsistencia → política oficial; trabajo manual → datos y cálculos automáticos; sin métricas → observabilidad.</a:t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Recorrer el flujo con el ejemplo del pedido retrasado UF-1006: la tool calcula que lleva 11 días hábiles en tránsito y lo marca como retrasado.</a:t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Tres contenedores propios: Frontend Next.js, API del agente (FastAPI + LangChain) y la BD de historial. Siete sistemas externos: Firebase, OpenAI, Qdrant, Groq, Neon vía MCP, la paquetería (mock) y LangSmith.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slide responde la rúbrica del proyecto: cada requisito reemplazado y qué se mantuvo igual.</a:t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Estas cifras son reales: salen del trace de la prueba end-to-end. Mostrar el trace en LangSmith si hay demo en vivo.</a:t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Aclarar que las métricas son proyecciones. El único dato medido es el costo por consulta.</a:t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con lo aprendido como arquitecto y con un piloto concreto: 4 semanas con 10 % del tráfico web.</a:t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rgbClr val="1F293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FFD8A8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FFD8A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UFit Coach · Proyecto final AI Solution Architect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>
            <p:ph type="title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UFit Coach</a:t>
            </a:r>
            <a:endParaRPr sz="5400"/>
          </a:p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D8A8"/>
              </a:buClr>
              <a:buSzPts val="2200"/>
              <a:buNone/>
            </a:pPr>
            <a:r>
              <a:rPr lang="en-US" sz="2200">
                <a:solidFill>
                  <a:srgbClr val="FFD8A8"/>
                </a:solidFill>
              </a:rPr>
              <a:t>Asistente de postventa con IA para UFit, tienda en línea de artículos deportivos en México</a:t>
            </a:r>
            <a:endParaRPr sz="2200"/>
          </a:p>
        </p:txBody>
      </p:sp>
      <p:sp>
        <p:nvSpPr>
          <p:cNvPr id="26" name="Google Shape;26;p1"/>
          <p:cNvSpPr/>
          <p:nvPr/>
        </p:nvSpPr>
        <p:spPr>
          <a:xfrm>
            <a:off x="731520" y="822960"/>
            <a:ext cx="1005840" cy="1005840"/>
          </a:xfrm>
          <a:prstGeom prst="ellipse">
            <a:avLst/>
          </a:prstGeom>
          <a:solidFill>
            <a:srgbClr val="E8590C"/>
          </a:solidFill>
          <a:ln cap="flat" cmpd="sng" w="127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922" y="1064362"/>
            <a:ext cx="523037" cy="52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9CED6"/>
                </a:solidFill>
                <a:latin typeface="Arial"/>
                <a:ea typeface="Arial"/>
                <a:cs typeface="Arial"/>
                <a:sym typeface="Arial"/>
              </a:rPr>
              <a:t>Proyecto final · Datapath - AI Solution Architect · </a:t>
            </a:r>
            <a:r>
              <a:rPr lang="en-US">
                <a:solidFill>
                  <a:srgbClr val="C9CED6"/>
                </a:solidFill>
              </a:rPr>
              <a:t>Emmanuel Bernal Lucero</a:t>
            </a:r>
            <a:r>
              <a:rPr b="0" i="0" lang="en-US" sz="1400" u="none" cap="none" strike="noStrike">
                <a:solidFill>
                  <a:srgbClr val="C9CED6"/>
                </a:solidFill>
                <a:latin typeface="Arial"/>
                <a:ea typeface="Arial"/>
                <a:cs typeface="Arial"/>
                <a:sym typeface="Arial"/>
              </a:rPr>
              <a:t> · 17 de Octubre 2026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postventa de UFit no escala con las ventas</a:t>
            </a:r>
            <a:endParaRPr sz="3600"/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Cada pedido genera preguntas repetitivas que hoy atiende un equipo pequeño, por WhatsApp y correo, solo en horario de oficina.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2286000"/>
            <a:ext cx="2560320" cy="2651760"/>
          </a:xfrm>
          <a:prstGeom prst="roundRect">
            <a:avLst>
              <a:gd fmla="val 4286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777240" y="256032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1,200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777240" y="36576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consultas de postventa por semana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383280" y="2286000"/>
            <a:ext cx="2560320" cy="2651760"/>
          </a:xfrm>
          <a:prstGeom prst="roundRect">
            <a:avLst>
              <a:gd fmla="val 4286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3611880" y="256032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18 h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3611880" y="36576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tiempo medio de primera respuesta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17920" y="2286000"/>
            <a:ext cx="2560320" cy="2651760"/>
          </a:xfrm>
          <a:prstGeom prst="roundRect">
            <a:avLst>
              <a:gd fmla="val 4286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6446520" y="256032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65 %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446520" y="36576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son preguntas repetitivas: pedido, devolución, talla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052560" y="2286000"/>
            <a:ext cx="2560320" cy="2651760"/>
          </a:xfrm>
          <a:prstGeom prst="roundRect">
            <a:avLst>
              <a:gd fmla="val 4286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9281160" y="256032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9281160" y="36576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métricas de calidad de las respuestas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Costo de no actuar: clientes que esperan un día por una respuesta, abandonan la compra siguiente y saturan el canal con mensajes de seguimiento.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7955280" y="6035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Cifras ilustrativas del caso de estudio (supuestos)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Hoy cada respuesta es un proceso manual de cinco pasos</a:t>
            </a:r>
            <a:endParaRPr sz="3600"/>
          </a:p>
        </p:txBody>
      </p:sp>
      <p:sp>
        <p:nvSpPr>
          <p:cNvPr id="57" name="Google Shape;57;p3"/>
          <p:cNvSpPr/>
          <p:nvPr/>
        </p:nvSpPr>
        <p:spPr>
          <a:xfrm>
            <a:off x="1143000" y="1645920"/>
            <a:ext cx="822960" cy="822960"/>
          </a:xfrm>
          <a:prstGeom prst="ellipse">
            <a:avLst/>
          </a:prstGeom>
          <a:solidFill>
            <a:srgbClr val="3E4C59"/>
          </a:solidFill>
          <a:ln cap="flat" cmpd="sng" w="12700">
            <a:solidFill>
              <a:srgbClr val="3E4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510" y="1843430"/>
            <a:ext cx="427939" cy="4279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3"/>
          <p:cNvCxnSpPr/>
          <p:nvPr/>
        </p:nvCxnSpPr>
        <p:spPr>
          <a:xfrm>
            <a:off x="2103120" y="2057400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B0B7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" name="Google Shape;60;p3"/>
          <p:cNvSpPr txBox="1"/>
          <p:nvPr/>
        </p:nvSpPr>
        <p:spPr>
          <a:xfrm>
            <a:off x="548640" y="2697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Cliente escribe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548640" y="31546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WhatsApp o correo, en horario 9-19 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429000" y="1645920"/>
            <a:ext cx="822960" cy="822960"/>
          </a:xfrm>
          <a:prstGeom prst="ellipse">
            <a:avLst/>
          </a:prstGeom>
          <a:solidFill>
            <a:srgbClr val="3E4C59"/>
          </a:solidFill>
          <a:ln cap="flat" cmpd="sng" w="12700">
            <a:solidFill>
              <a:srgbClr val="3E4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6510" y="1843430"/>
            <a:ext cx="427939" cy="4279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3"/>
          <p:cNvCxnSpPr/>
          <p:nvPr/>
        </p:nvCxnSpPr>
        <p:spPr>
          <a:xfrm>
            <a:off x="4389120" y="2057400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B0B7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3"/>
          <p:cNvSpPr txBox="1"/>
          <p:nvPr/>
        </p:nvSpPr>
        <p:spPr>
          <a:xfrm>
            <a:off x="2834640" y="2697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Busca la guía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2834640" y="31546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Portal de cada paquetería, a mano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715000" y="1645920"/>
            <a:ext cx="822960" cy="822960"/>
          </a:xfrm>
          <a:prstGeom prst="ellipse">
            <a:avLst/>
          </a:prstGeom>
          <a:solidFill>
            <a:srgbClr val="3E4C59"/>
          </a:solidFill>
          <a:ln cap="flat" cmpd="sng" w="12700">
            <a:solidFill>
              <a:srgbClr val="3E4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2510" y="1843430"/>
            <a:ext cx="427939" cy="4279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3"/>
          <p:cNvCxnSpPr/>
          <p:nvPr/>
        </p:nvCxnSpPr>
        <p:spPr>
          <a:xfrm>
            <a:off x="6675120" y="2057400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B0B7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3"/>
          <p:cNvSpPr txBox="1"/>
          <p:nvPr/>
        </p:nvSpPr>
        <p:spPr>
          <a:xfrm>
            <a:off x="5120640" y="2697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Revisa la política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5120640" y="31546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PDF de devoluciones y garantías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001000" y="1645920"/>
            <a:ext cx="822960" cy="822960"/>
          </a:xfrm>
          <a:prstGeom prst="ellipse">
            <a:avLst/>
          </a:prstGeom>
          <a:solidFill>
            <a:srgbClr val="3E4C59"/>
          </a:solidFill>
          <a:ln cap="flat" cmpd="sng" w="12700">
            <a:solidFill>
              <a:srgbClr val="3E4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8510" y="1843430"/>
            <a:ext cx="427939" cy="4279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3"/>
          <p:cNvCxnSpPr/>
          <p:nvPr/>
        </p:nvCxnSpPr>
        <p:spPr>
          <a:xfrm>
            <a:off x="8961120" y="2057400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B0B7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3"/>
          <p:cNvSpPr txBox="1"/>
          <p:nvPr/>
        </p:nvSpPr>
        <p:spPr>
          <a:xfrm>
            <a:off x="7406640" y="2697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Calcula el reembolso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7406640" y="31546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Excel con reglas que cada agente interpreta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287000" y="1645920"/>
            <a:ext cx="822960" cy="822960"/>
          </a:xfrm>
          <a:prstGeom prst="ellipse">
            <a:avLst/>
          </a:prstGeom>
          <a:solidFill>
            <a:srgbClr val="C92A2A"/>
          </a:solidFill>
          <a:ln cap="flat" cmpd="sng" w="12700">
            <a:solidFill>
              <a:srgbClr val="C9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84510" y="184343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 txBox="1"/>
          <p:nvPr/>
        </p:nvSpPr>
        <p:spPr>
          <a:xfrm>
            <a:off x="9692640" y="2697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Responde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9692640" y="31546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Horas después, sin registro ni métricas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4389120"/>
            <a:ext cx="11064240" cy="1554480"/>
          </a:xfrm>
          <a:prstGeom prst="roundRect">
            <a:avLst>
              <a:gd fmla="val 7059" name="adj"/>
            </a:avLst>
          </a:prstGeom>
          <a:solidFill>
            <a:srgbClr val="FFF4E6"/>
          </a:solidFill>
          <a:ln cap="flat" cmpd="sng" w="12700">
            <a:solidFill>
              <a:srgbClr val="FFF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822960" y="45720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Dolores: </a:t>
            </a:r>
            <a:r>
              <a:rPr b="0" i="0" lang="en-US" sz="16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respuestas inconsistentes entre agentes · sin atención nocturna ni en fin de semana · cálculos de reembolso con errores · nadie sabe qué respuestas fueron buenas o malas.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“</a:t>
            </a: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Coach</a:t>
            </a:r>
            <a:r>
              <a:rPr lang="en-US"/>
              <a:t>”</a:t>
            </a: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resuelve la postventa 24/7 en segundos</a:t>
            </a:r>
            <a:endParaRPr sz="3600"/>
          </a:p>
        </p:txBody>
      </p:sp>
      <p:sp>
        <p:nvSpPr>
          <p:cNvPr id="90" name="Google Shape;90;p4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Un agente de IA en la web de UFit que responde con las políticas oficiales, consulta los datos reales del pedido y guía los trámites.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2194560"/>
            <a:ext cx="3474720" cy="3566160"/>
          </a:xfrm>
          <a:prstGeom prst="roundRect">
            <a:avLst>
              <a:gd fmla="val 3158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822960" y="2468880"/>
            <a:ext cx="822960" cy="822960"/>
          </a:xfrm>
          <a:prstGeom prst="ellipse">
            <a:avLst/>
          </a:prstGeom>
          <a:solidFill>
            <a:srgbClr val="E8590C"/>
          </a:solidFill>
          <a:ln cap="flat" cmpd="sng" w="127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470" y="26663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822960" y="347472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Responde con la política oficial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822960" y="42062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RAG sobre 7 documentos de UFit (devoluciones, envíos, garantías, tallas, pagos, UFit Club, FAQ) en Qdrant.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297680" y="2194560"/>
            <a:ext cx="3474720" cy="3566160"/>
          </a:xfrm>
          <a:prstGeom prst="roundRect">
            <a:avLst>
              <a:gd fmla="val 3158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572000" y="2468880"/>
            <a:ext cx="822960" cy="822960"/>
          </a:xfrm>
          <a:prstGeom prst="ellipse">
            <a:avLst/>
          </a:prstGeom>
          <a:solidFill>
            <a:srgbClr val="1168BD"/>
          </a:solidFill>
          <a:ln cap="flat" cmpd="sng" w="12700">
            <a:solidFill>
              <a:srgbClr val="116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9510" y="26663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/>
        </p:nvSpPr>
        <p:spPr>
          <a:xfrm>
            <a:off x="4572000" y="347472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Actúa sobre datos reales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4572000" y="42062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Tools para rastrear el pedido y calcular el reembolso; MCP de Neon para stock y pedidos; skills para devolución y cambio de talla.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046720" y="2194560"/>
            <a:ext cx="3474720" cy="3566160"/>
          </a:xfrm>
          <a:prstGeom prst="roundRect">
            <a:avLst>
              <a:gd fmla="val 3158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8321040" y="2468880"/>
            <a:ext cx="822960" cy="822960"/>
          </a:xfrm>
          <a:prstGeom prst="ellipse">
            <a:avLst/>
          </a:prstGeom>
          <a:solidFill>
            <a:srgbClr val="2F9E44"/>
          </a:solidFill>
          <a:ln cap="flat" cmpd="sng" w="12700">
            <a:solidFill>
              <a:srgbClr val="2F9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8550" y="26663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8321040" y="347472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Seguro y medible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8321040" y="42062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8 capas de guardrails, tracing en LangSmith con tokens y costo, y feedback 👍/👎 conectado a cada trace.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Así responde Coach una consulta</a:t>
            </a:r>
            <a:endParaRPr sz="3600"/>
          </a:p>
        </p:txBody>
      </p:sp>
      <p:sp>
        <p:nvSpPr>
          <p:cNvPr id="113" name="Google Shape;113;p5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rgbClr val="1168BD"/>
          </a:solidFill>
          <a:ln cap="flat" cmpd="sng" w="12700">
            <a:solidFill>
              <a:srgbClr val="116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205" y="15471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1508760" y="1389888"/>
            <a:ext cx="32918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1. El cliente pregunta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4846320" y="1389888"/>
            <a:ext cx="67665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“¿Dónde está mi pedido UF-1006?” desde la web, con sesión de Firebase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48640" y="2331720"/>
            <a:ext cx="731520" cy="731520"/>
          </a:xfrm>
          <a:prstGeom prst="ellipse">
            <a:avLst/>
          </a:prstGeom>
          <a:solidFill>
            <a:srgbClr val="1168BD"/>
          </a:solidFill>
          <a:ln cap="flat" cmpd="sng" w="12700">
            <a:solidFill>
              <a:srgbClr val="116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205" y="25072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1508760" y="2350008"/>
            <a:ext cx="32918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2. Guardrails filtran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846320" y="2350008"/>
            <a:ext cx="67665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8 capas: secretos, prompt injection, toxicidad, PII, URLs y 2 clasificadores LLM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rgbClr val="E8590C"/>
          </a:solidFill>
          <a:ln cap="flat" cmpd="sng" w="127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205" y="34674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1508760" y="3310128"/>
            <a:ext cx="32918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3. El agente decide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4846320" y="3310128"/>
            <a:ext cx="67665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Elige la herramienta: política (RAG), envío, reembolso, stock (MCP) o skill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4251960"/>
            <a:ext cx="731520" cy="731520"/>
          </a:xfrm>
          <a:prstGeom prst="ellipse">
            <a:avLst/>
          </a:prstGeom>
          <a:solidFill>
            <a:srgbClr val="1168BD"/>
          </a:solidFill>
          <a:ln cap="flat" cmpd="sng" w="12700">
            <a:solidFill>
              <a:srgbClr val="116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205" y="44275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1508760" y="4270248"/>
            <a:ext cx="32918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4. Responde y registra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4846320" y="4270248"/>
            <a:ext cx="67665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Respuesta en segundos; la conversación queda en la tabla history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8640" y="5212080"/>
            <a:ext cx="731520" cy="731520"/>
          </a:xfrm>
          <a:prstGeom prst="ellipse">
            <a:avLst/>
          </a:prstGeom>
          <a:solidFill>
            <a:srgbClr val="1168BD"/>
          </a:solidFill>
          <a:ln cap="flat" cmpd="sng" w="12700">
            <a:solidFill>
              <a:srgbClr val="116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4205" y="53876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508760" y="5230368"/>
            <a:ext cx="32918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5. Se mide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846320" y="5230368"/>
            <a:ext cx="67665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Trace en LangSmith con tokens y costo; el 👍/👎 se asocia al trace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Arquitectura: diagrama de contenedores C4 nivel 2</a:t>
            </a:r>
            <a:endParaRPr sz="3600"/>
          </a:p>
        </p:txBody>
      </p:sp>
      <p:pic>
        <p:nvPicPr>
          <p:cNvPr descr="Diagrama C4 nivel 2 de UFit Coach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234440"/>
            <a:ext cx="9537192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A</a:t>
            </a: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rquitectura y dominio utilizados</a:t>
            </a:r>
            <a:endParaRPr sz="3600"/>
          </a:p>
        </p:txBody>
      </p:sp>
      <p:graphicFrame>
        <p:nvGraphicFramePr>
          <p:cNvPr id="148" name="Google Shape;148;p7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{5126A14F-3416-4917-943B-EF3BA438EAF5}</a:tableStyleId>
              </a:tblPr>
              <a:tblGrid>
                <a:gridCol w="2560325"/>
                <a:gridCol w="49377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Requisito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UFit Coach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3"/>
                          </a:solidFill>
                        </a:rPr>
                        <a:t>Base de conocimiento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3"/>
                          </a:solidFill>
                        </a:rPr>
                        <a:t>7 políticas de UFit · 53 chunks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3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3"/>
                          </a:solidFill>
                        </a:rPr>
                        <a:t>envios.json + tablas ufit_* en Neon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3"/>
                          </a:solidFill>
                        </a:rPr>
                        <a:t>Colección Qdrant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3"/>
                          </a:solidFill>
                        </a:rPr>
                        <a:t>ufit_postventa_kb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3"/>
                          </a:solidFill>
                        </a:rPr>
                        <a:t>Tools del servicio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3"/>
                          </a:solidFill>
                        </a:rPr>
                        <a:t>rastrear_pedido · calcular_reembolso · devolución · cambio de talla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3"/>
                          </a:solidFill>
                        </a:rPr>
                        <a:t>MCP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3"/>
                          </a:solidFill>
                        </a:rPr>
                        <a:t>Neon con allowlist de 3 tools de lectura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3"/>
                          </a:solidFill>
                        </a:rPr>
                        <a:t>Tracing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3"/>
                          </a:solidFill>
                        </a:rPr>
                        <a:t>Proyecto ufit-coach · tags ufit-coach</a:t>
                      </a:r>
                      <a:endParaRPr sz="140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7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respuesta queda trazada y evaluada</a:t>
            </a:r>
            <a:endParaRPr sz="3600"/>
          </a:p>
        </p:txBody>
      </p:sp>
      <p:sp>
        <p:nvSpPr>
          <p:cNvPr id="156" name="Google Shape;156;p8"/>
          <p:cNvSpPr/>
          <p:nvPr/>
        </p:nvSpPr>
        <p:spPr>
          <a:xfrm>
            <a:off x="548640" y="1371600"/>
            <a:ext cx="2560320" cy="2011680"/>
          </a:xfrm>
          <a:prstGeom prst="roundRect">
            <a:avLst>
              <a:gd fmla="val 5455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777240" y="15544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68B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168BD"/>
                </a:solidFill>
                <a:latin typeface="Arial"/>
                <a:ea typeface="Arial"/>
                <a:cs typeface="Arial"/>
                <a:sym typeface="Arial"/>
              </a:rPr>
              <a:t>5,495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777240" y="24231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tokens en la consulta de stock (MCP)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383280" y="1371600"/>
            <a:ext cx="2560320" cy="2011680"/>
          </a:xfrm>
          <a:prstGeom prst="roundRect">
            <a:avLst>
              <a:gd fmla="val 5455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3611880" y="15544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68B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168BD"/>
                </a:solidFill>
                <a:latin typeface="Arial"/>
                <a:ea typeface="Arial"/>
                <a:cs typeface="Arial"/>
                <a:sym typeface="Arial"/>
              </a:rPr>
              <a:t>$0.0006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3611880" y="24231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USD de costo por esa consulta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217920" y="1371600"/>
            <a:ext cx="2560320" cy="2011680"/>
          </a:xfrm>
          <a:prstGeom prst="roundRect">
            <a:avLst>
              <a:gd fmla="val 5455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6446520" y="15544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68B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168BD"/>
                </a:solidFill>
                <a:latin typeface="Arial"/>
                <a:ea typeface="Arial"/>
                <a:cs typeface="Arial"/>
                <a:sym typeface="Arial"/>
              </a:rPr>
              <a:t>7.6 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6446520" y="24231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latencia total con 8 guardrails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9052560" y="1371600"/>
            <a:ext cx="2560320" cy="2011680"/>
          </a:xfrm>
          <a:prstGeom prst="roundRect">
            <a:avLst>
              <a:gd fmla="val 5455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9281160" y="15544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68B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168BD"/>
                </a:solidFill>
                <a:latin typeface="Arial"/>
                <a:ea typeface="Arial"/>
                <a:cs typeface="Arial"/>
                <a:sym typeface="Arial"/>
              </a:rPr>
              <a:t>👍 = 1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9281160" y="24231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user_score enviado al trace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48640" y="34747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Medido en LangSmith, proyecto ufit-coach, trace chat_request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48640" y="39776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Trace por consulta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3566160" y="39776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trace_id compartido entre la API, la tabla history y LangSmith; spans de guardrails, modelo y tools.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548640" y="47091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Feedback humano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3566160" y="47091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POST /api/feedback guarda is_ok en la BD y envía user_score al trace.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548640" y="54406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Evaluación offline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3566160" y="54406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Golden set de 26 casos: RAG, tools, MCP, skills y guardrails, con 4 evaluadores y umbrales de calidad.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Impacto esperado en la operación de UFit</a:t>
            </a:r>
            <a:endParaRPr sz="3600"/>
          </a:p>
        </p:txBody>
      </p:sp>
      <p:sp>
        <p:nvSpPr>
          <p:cNvPr id="182" name="Google Shape;182;p9"/>
          <p:cNvSpPr/>
          <p:nvPr/>
        </p:nvSpPr>
        <p:spPr>
          <a:xfrm>
            <a:off x="548640" y="1371600"/>
            <a:ext cx="5394960" cy="1920240"/>
          </a:xfrm>
          <a:prstGeom prst="roundRect">
            <a:avLst>
              <a:gd fmla="val 5714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868680" y="16002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18 h → &lt; 10 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868680" y="251460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tiempo de primera respuesta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126480" y="1371600"/>
            <a:ext cx="5394960" cy="1920240"/>
          </a:xfrm>
          <a:prstGeom prst="roundRect">
            <a:avLst>
              <a:gd fmla="val 5714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6446520" y="16002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68B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168BD"/>
                </a:solidFill>
                <a:latin typeface="Arial"/>
                <a:ea typeface="Arial"/>
                <a:cs typeface="Arial"/>
                <a:sym typeface="Arial"/>
              </a:rPr>
              <a:t>~60 %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6446520" y="251460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consultas resueltas sin un agente humano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48640" y="3566160"/>
            <a:ext cx="5394960" cy="1920240"/>
          </a:xfrm>
          <a:prstGeom prst="roundRect">
            <a:avLst>
              <a:gd fmla="val 5714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868680" y="37947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44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F9E44"/>
                </a:solidFill>
                <a:latin typeface="Arial"/>
                <a:ea typeface="Arial"/>
                <a:cs typeface="Arial"/>
                <a:sym typeface="Arial"/>
              </a:rPr>
              <a:t>24/7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868680" y="47091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atención, incluidas noches y fines de semana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126480" y="3566160"/>
            <a:ext cx="5394960" cy="1920240"/>
          </a:xfrm>
          <a:prstGeom prst="roundRect">
            <a:avLst>
              <a:gd fmla="val 5714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6446520" y="37947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F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59F00"/>
                </a:solidFill>
                <a:latin typeface="Arial"/>
                <a:ea typeface="Arial"/>
                <a:cs typeface="Arial"/>
                <a:sym typeface="Arial"/>
              </a:rPr>
              <a:t>&lt; $0.02 MXN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6446520" y="47091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E4C59"/>
                </a:solidFill>
                <a:latin typeface="Arial"/>
                <a:ea typeface="Arial"/>
                <a:cs typeface="Arial"/>
                <a:sym typeface="Arial"/>
              </a:rPr>
              <a:t>costo de modelo por consulta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Proyecciones conservadoras del caso de estudio; el costo por consulta sale del trace medido (USD 0.0006).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Conclusiones y próximos pasos</a:t>
            </a:r>
            <a:endParaRPr sz="3600"/>
          </a:p>
        </p:txBody>
      </p:sp>
      <p:sp>
        <p:nvSpPr>
          <p:cNvPr id="202" name="Google Shape;202;p10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fmla="val 2353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217920" y="1371600"/>
            <a:ext cx="5394960" cy="4663440"/>
          </a:xfrm>
          <a:prstGeom prst="roundRect">
            <a:avLst>
              <a:gd fmla="val 2353" name="adj"/>
            </a:avLst>
          </a:prstGeom>
          <a:solidFill>
            <a:srgbClr val="FFF4E6"/>
          </a:solidFill>
          <a:ln cap="flat" cmpd="sng" w="12700">
            <a:solidFill>
              <a:srgbClr val="FFF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68B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68BD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868680" y="2148840"/>
            <a:ext cx="47548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Una arquitectura agéntica bien separada se puede reutilizar: cambiar de dominio </a:t>
            </a:r>
            <a:r>
              <a:rPr lang="en-US" sz="1500">
                <a:solidFill>
                  <a:srgbClr val="1F2933"/>
                </a:solidFill>
              </a:rPr>
              <a:t>reemplazando</a:t>
            </a: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 KB, data, tools y prompt.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Los cálculos de negocio van en tools deterministas, no en el LLM.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MCP con mínimo privilegio: de más de 100 tools de Neon, el agente solo usa 3 de lectura.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Fail-close tiene un costo: los timeouts de Groq </a:t>
            </a:r>
            <a:r>
              <a:rPr lang="en-US" sz="1500">
                <a:solidFill>
                  <a:srgbClr val="1F2933"/>
                </a:solidFill>
              </a:rPr>
              <a:t>bloqueaba</a:t>
            </a: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 consultas legítimas, así que se ajustó el timeout.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6537960" y="2148840"/>
            <a:ext cx="47548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Integrar la API real de las paqueterías (Estafeta, FedEx, DHL).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PII de México en la capa 5 (CURP, RFC, teléfonos de 10 dígitos).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Despliegue en Cloud Run con el CI/CD y canary del lab 06.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Online evals en LangSmith y feedback negativo → golden set.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Escalar a humano por WhatsApp cuando haya una incidencia abierta.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A94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Fit Coach">
  <a:themeElements>
    <a:clrScheme name="UFit Coach">
      <a:dk1>
        <a:srgbClr val="1F2933"/>
      </a:dk1>
      <a:lt1>
        <a:srgbClr val="FFFFFF"/>
      </a:lt1>
      <a:dk2>
        <a:srgbClr val="3E4C59"/>
      </a:dk2>
      <a:lt2>
        <a:srgbClr val="F4F5F7"/>
      </a:lt2>
      <a:accent1>
        <a:srgbClr val="E8590C"/>
      </a:accent1>
      <a:accent2>
        <a:srgbClr val="1168BD"/>
      </a:accent2>
      <a:accent3>
        <a:srgbClr val="2F9E44"/>
      </a:accent3>
      <a:accent4>
        <a:srgbClr val="F59F00"/>
      </a:accent4>
      <a:accent5>
        <a:srgbClr val="6B6B6B"/>
      </a:accent5>
      <a:accent6>
        <a:srgbClr val="C92A2A"/>
      </a:accent6>
      <a:hlink>
        <a:srgbClr val="1168BD"/>
      </a:hlink>
      <a:folHlink>
        <a:srgbClr val="6B6B6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Fit Coach">
  <a:themeElements>
    <a:clrScheme name="UFit Coach">
      <a:dk1>
        <a:srgbClr val="1F2933"/>
      </a:dk1>
      <a:lt1>
        <a:srgbClr val="FFFFFF"/>
      </a:lt1>
      <a:dk2>
        <a:srgbClr val="3E4C59"/>
      </a:dk2>
      <a:lt2>
        <a:srgbClr val="F4F5F7"/>
      </a:lt2>
      <a:accent1>
        <a:srgbClr val="E8590C"/>
      </a:accent1>
      <a:accent2>
        <a:srgbClr val="1168BD"/>
      </a:accent2>
      <a:accent3>
        <a:srgbClr val="2F9E44"/>
      </a:accent3>
      <a:accent4>
        <a:srgbClr val="F59F00"/>
      </a:accent4>
      <a:accent5>
        <a:srgbClr val="6B6B6B"/>
      </a:accent5>
      <a:accent6>
        <a:srgbClr val="C92A2A"/>
      </a:accent6>
      <a:hlink>
        <a:srgbClr val="1168BD"/>
      </a:hlink>
      <a:folHlink>
        <a:srgbClr val="6B6B6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2026-10-18T01:07:17Z</dcterms:created>
  <dc:creator>Manu BL</dc:creator>
</cp:coreProperties>
</file>