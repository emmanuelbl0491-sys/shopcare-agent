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323ce88a-5b67-e83b-d40c-ab48f076ae07}">
          <p14:sldIdLst>
            <p14:sldId id="256"/>
          </p14:sldIdLst>
        </p14:section>
        <p14:section name="Problema" id="{1c810baf-3088-42c3-2343-385a6fd35d5e}">
          <p14:sldIdLst>
            <p14:sldId id="257"/>
            <p14:sldId id="258"/>
          </p14:sldIdLst>
        </p14:section>
        <p14:section name="Solución" id="{f61305f5-173a-f8b3-d19f-99c65b5cd7de}">
          <p14:sldIdLst>
            <p14:sldId id="259"/>
            <p14:sldId id="260"/>
          </p14:sldIdLst>
        </p14:section>
        <p14:section name="Arquitectura" id="{7d8ab91c-983e-f3ed-f336-5a3e57bf3d5c}">
          <p14:sldIdLst>
            <p14:sldId id="261"/>
            <p14:sldId id="262"/>
            <p14:sldId id="263"/>
          </p14:sldIdLst>
        </p14:section>
        <p14:section name="Impacto" id="{09f52f35-6b3e-0e56-aeec-92b6250db660}">
          <p14:sldIdLst>
            <p14:sldId id="264"/>
          </p14:sldIdLst>
        </p14:section>
        <p14:section name="Conclusiones" id="{8a76ff82-839a-506a-8395-be17e1e1692e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proyecto en una frase: Coach es un agente de IA que resuelve la postventa de UFit 24/7, reutilizando la arquitectura del curso (backend 06 y frontend 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la tienda crece, pero la postventa es manual. Aclarar que las cifras son supuestos del caso de estudio, no datos históricos.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proceso actual paso a paso y los cuatro dolores. Cada uno se conecta con un pilar de la solución.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pilares, uno por cada grupo de dolores: inconsistencia → política oficial; trabajo manual → datos y cálculos automáticos; sin métricas → observabilidad.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flujo con el ejemplo del pedido retrasado UF-1006: la tool calcula que lleva 11 días hábiles en tránsito y lo marca como retrasado.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contenedores propios: Frontend Next.js, API del agente (FastAPI + LangChain) y la BD de historial. Siete sistemas externos: Firebase, OpenAI, Qdrant, Groq, Neon vía MCP, la paquetería (mock) y LangSmith.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responde la rúbrica del proyecto: cada requisito reemplazado y qué se mantuvo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cifras son reales: salen del trace de la prueba end-to-end. Mostrar el trace en LangSmith si hay demo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 que las métricas son proyecciones. El único dato medido es el costo por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lo aprendido como arquitecto y con un piloto concreto: 4 semanas con 10 % del tráfico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D8A8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4A0"/>
                </a:solidFill>
              </a:rPr>
              <a:t>UFit Coach · Proyecto final AI Solution Architect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UFit Coach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D8A8"/>
                </a:solidFill>
              </a:rPr>
              <a:t>Asistente de postventa con IA para UFit, tienda en línea de artículos deportivos en México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822960"/>
            <a:ext cx="1005840" cy="100584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2" y="1064362"/>
            <a:ext cx="523037" cy="5230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ED6"/>
                </a:solidFill>
              </a:rPr>
              <a:t>Proyecto final · AI Solution Architect · Manu BL · Octubre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postventa de UFit no escala con las ventas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E4C59"/>
                </a:solidFill>
              </a:rPr>
              <a:t>Cada pedido genera preguntas repetitivas que hoy atiende un equipo pequeño, por WhatsApp y correo, solo en horario de oficina.</a:t>
            </a:r>
            <a:endParaRPr lang="en-US" sz="1800" dirty="0"/>
          </a:p>
        </p:txBody>
      </p:sp>
      <p:sp>
        <p:nvSpPr>
          <p:cNvPr id="4" name="stat0"/>
          <p:cNvSpPr/>
          <p:nvPr/>
        </p:nvSpPr>
        <p:spPr>
          <a:xfrm>
            <a:off x="54864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560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6576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E4C59"/>
                </a:solidFill>
              </a:rPr>
              <a:t>consultas de postventa por semana</a:t>
            </a:r>
            <a:endParaRPr lang="en-US" sz="1600" dirty="0"/>
          </a:p>
        </p:txBody>
      </p:sp>
      <p:sp>
        <p:nvSpPr>
          <p:cNvPr id="7" name="stat1"/>
          <p:cNvSpPr/>
          <p:nvPr/>
        </p:nvSpPr>
        <p:spPr>
          <a:xfrm>
            <a:off x="338328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560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h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6576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E4C59"/>
                </a:solidFill>
              </a:rPr>
              <a:t>tiempo medio de primera respuesta</a:t>
            </a:r>
            <a:endParaRPr lang="en-US" sz="1600" dirty="0"/>
          </a:p>
        </p:txBody>
      </p:sp>
      <p:sp>
        <p:nvSpPr>
          <p:cNvPr id="10" name="stat2"/>
          <p:cNvSpPr/>
          <p:nvPr/>
        </p:nvSpPr>
        <p:spPr>
          <a:xfrm>
            <a:off x="621792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560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65 %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6576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E4C59"/>
                </a:solidFill>
              </a:rPr>
              <a:t>son preguntas repetitivas: pedido, devolución, talla</a:t>
            </a:r>
            <a:endParaRPr lang="en-US" sz="1600" dirty="0"/>
          </a:p>
        </p:txBody>
      </p:sp>
      <p:sp>
        <p:nvSpPr>
          <p:cNvPr id="13" name="stat3"/>
          <p:cNvSpPr/>
          <p:nvPr/>
        </p:nvSpPr>
        <p:spPr>
          <a:xfrm>
            <a:off x="905256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81160" y="2560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36576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E4C59"/>
                </a:solidFill>
              </a:rPr>
              <a:t>métricas de calidad de las respuestas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035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933"/>
                </a:solidFill>
              </a:rPr>
              <a:t>Costo de no actuar: clientes que esperan un día por una respuesta, abandonan la compra siguiente y saturan el canal con mensajes de seguimiento.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0"/>
                </a:solidFill>
              </a:rPr>
              <a:t>Cifras ilustrativas del caso de estudio (supuestos)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cada respuesta es un proceso manual de cinco pasos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143000" y="1645920"/>
            <a:ext cx="822960" cy="822960"/>
          </a:xfrm>
          <a:prstGeom prst="ellipse">
            <a:avLst/>
          </a:prstGeom>
          <a:solidFill>
            <a:srgbClr val="3E4C59"/>
          </a:solidFill>
          <a:ln w="12700">
            <a:solidFill>
              <a:srgbClr val="3E4C5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0510" y="1843430"/>
            <a:ext cx="427939" cy="42793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03120" y="2057400"/>
            <a:ext cx="1280160" cy="0"/>
          </a:xfrm>
          <a:prstGeom prst="line">
            <a:avLst/>
          </a:prstGeom>
          <a:noFill/>
          <a:ln w="19050">
            <a:solidFill>
              <a:srgbClr val="B0B7C0"/>
            </a:solidFill>
            <a:prstDash val="solid"/>
            <a:tailEnd type="triangle"/>
          </a:ln>
        </p:spPr>
      </p:sp>
      <p:sp>
        <p:nvSpPr>
          <p:cNvPr id="6" name="Text 3"/>
          <p:cNvSpPr txBox="1"/>
          <p:nvPr/>
        </p:nvSpPr>
        <p:spPr>
          <a:xfrm>
            <a:off x="54864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</a:rPr>
              <a:t>Cliente escribe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154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WhatsApp o correo, en horario 9-19 h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429000" y="1645920"/>
            <a:ext cx="822960" cy="822960"/>
          </a:xfrm>
          <a:prstGeom prst="ellipse">
            <a:avLst/>
          </a:prstGeom>
          <a:solidFill>
            <a:srgbClr val="3E4C59"/>
          </a:solidFill>
          <a:ln w="12700">
            <a:solidFill>
              <a:srgbClr val="3E4C5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510" y="1843430"/>
            <a:ext cx="427939" cy="427939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389120" y="2057400"/>
            <a:ext cx="1280160" cy="0"/>
          </a:xfrm>
          <a:prstGeom prst="line">
            <a:avLst/>
          </a:prstGeom>
          <a:noFill/>
          <a:ln w="19050">
            <a:solidFill>
              <a:srgbClr val="B0B7C0"/>
            </a:solidFill>
            <a:prstDash val="solid"/>
            <a:tailEnd type="triangle"/>
          </a:ln>
        </p:spPr>
      </p:sp>
      <p:sp>
        <p:nvSpPr>
          <p:cNvPr id="11" name="Text 7"/>
          <p:cNvSpPr txBox="1"/>
          <p:nvPr/>
        </p:nvSpPr>
        <p:spPr>
          <a:xfrm>
            <a:off x="283464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</a:rPr>
              <a:t>Busca la guía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154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Portal de cada paquetería, a mano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715000" y="1645920"/>
            <a:ext cx="822960" cy="822960"/>
          </a:xfrm>
          <a:prstGeom prst="ellipse">
            <a:avLst/>
          </a:prstGeom>
          <a:solidFill>
            <a:srgbClr val="3E4C59"/>
          </a:solidFill>
          <a:ln w="12700">
            <a:solidFill>
              <a:srgbClr val="3E4C59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510" y="1843430"/>
            <a:ext cx="427939" cy="42793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675120" y="2057400"/>
            <a:ext cx="1280160" cy="0"/>
          </a:xfrm>
          <a:prstGeom prst="line">
            <a:avLst/>
          </a:prstGeom>
          <a:noFill/>
          <a:ln w="19050">
            <a:solidFill>
              <a:srgbClr val="B0B7C0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512064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</a:rPr>
              <a:t>Revisa la política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154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PDF de devoluciones y garantías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01000" y="1645920"/>
            <a:ext cx="822960" cy="822960"/>
          </a:xfrm>
          <a:prstGeom prst="ellipse">
            <a:avLst/>
          </a:prstGeom>
          <a:solidFill>
            <a:srgbClr val="3E4C59"/>
          </a:solidFill>
          <a:ln w="12700">
            <a:solidFill>
              <a:srgbClr val="3E4C59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8510" y="1843430"/>
            <a:ext cx="427939" cy="427939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961120" y="2057400"/>
            <a:ext cx="1280160" cy="0"/>
          </a:xfrm>
          <a:prstGeom prst="line">
            <a:avLst/>
          </a:prstGeom>
          <a:noFill/>
          <a:ln w="19050">
            <a:solidFill>
              <a:srgbClr val="B0B7C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740664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</a:rPr>
              <a:t>Calcula el reembolso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154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Excel con reglas que cada agente interpreta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10287000" y="1645920"/>
            <a:ext cx="822960" cy="822960"/>
          </a:xfrm>
          <a:prstGeom prst="ellipse">
            <a:avLst/>
          </a:prstGeom>
          <a:solidFill>
            <a:srgbClr val="C92A2A"/>
          </a:solidFill>
          <a:ln w="12700">
            <a:solidFill>
              <a:srgbClr val="C92A2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4510" y="1843430"/>
            <a:ext cx="427939" cy="427939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69264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3"/>
                </a:solidFill>
              </a:rPr>
              <a:t>Responde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9692640" y="31546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E4C59"/>
                </a:solidFill>
              </a:rPr>
              <a:t>Horas después, sin registro ni métricas</a:t>
            </a:r>
            <a:endParaRPr lang="en-US" sz="1400" dirty="0"/>
          </a:p>
        </p:txBody>
      </p:sp>
      <p:sp>
        <p:nvSpPr>
          <p:cNvPr id="27" name="pains"/>
          <p:cNvSpPr/>
          <p:nvPr/>
        </p:nvSpPr>
        <p:spPr>
          <a:xfrm>
            <a:off x="548640" y="438912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90C"/>
                </a:solidFill>
              </a:rPr>
              <a:t>Dolores: </a:t>
            </a:r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respuestas inconsistentes entre agentes · sin atención nocturna ni en fin de semana · cálculos de reembolso con errores · nadie sabe qué respuestas fueron buenas o malas.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resuelve la postventa 24/7 en segundos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E4C59"/>
                </a:solidFill>
              </a:rPr>
              <a:t>Un agente de IA en la web de UFit que responde con las políticas oficiales, consulta los datos reales del pedido y guía los trámites.</a:t>
            </a:r>
            <a:endParaRPr lang="en-US" sz="1800" dirty="0"/>
          </a:p>
        </p:txBody>
      </p:sp>
      <p:sp>
        <p:nvSpPr>
          <p:cNvPr id="4" name="pillar0"/>
          <p:cNvSpPr/>
          <p:nvPr/>
        </p:nvSpPr>
        <p:spPr>
          <a:xfrm>
            <a:off x="548640" y="219456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68880"/>
            <a:ext cx="822960" cy="82296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6663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474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</a:rPr>
              <a:t>Responde con la política oficial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RAG sobre 7 documentos de UFit (devoluciones, envíos, garantías, tallas, pagos, UFit Club, FAQ) en Qdrant.</a:t>
            </a:r>
            <a:endParaRPr lang="en-US" sz="1500" dirty="0"/>
          </a:p>
        </p:txBody>
      </p:sp>
      <p:sp>
        <p:nvSpPr>
          <p:cNvPr id="9" name="pillar1"/>
          <p:cNvSpPr/>
          <p:nvPr/>
        </p:nvSpPr>
        <p:spPr>
          <a:xfrm>
            <a:off x="4297680" y="219456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2468880"/>
            <a:ext cx="822960" cy="822960"/>
          </a:xfrm>
          <a:prstGeom prst="ellipse">
            <a:avLst/>
          </a:prstGeom>
          <a:solidFill>
            <a:srgbClr val="1168BD"/>
          </a:solidFill>
          <a:ln w="12700">
            <a:solidFill>
              <a:srgbClr val="1168B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510" y="2666390"/>
            <a:ext cx="427939" cy="42793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3474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</a:rPr>
              <a:t>Actúa sobre datos reales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2062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Tools para rastrear el pedido y calcular el reembolso; MCP de Neon para stock y pedidos; skills para devolución y cambio de talla.</a:t>
            </a:r>
            <a:endParaRPr lang="en-US" sz="1500" dirty="0"/>
          </a:p>
        </p:txBody>
      </p:sp>
      <p:sp>
        <p:nvSpPr>
          <p:cNvPr id="14" name="pillar2"/>
          <p:cNvSpPr/>
          <p:nvPr/>
        </p:nvSpPr>
        <p:spPr>
          <a:xfrm>
            <a:off x="8046720" y="219456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21040" y="2468880"/>
            <a:ext cx="822960" cy="822960"/>
          </a:xfrm>
          <a:prstGeom prst="ellipse">
            <a:avLst/>
          </a:prstGeom>
          <a:solidFill>
            <a:srgbClr val="2F9E44"/>
          </a:solidFill>
          <a:ln w="12700">
            <a:solidFill>
              <a:srgbClr val="2F9E4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550" y="266639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3474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</a:rPr>
              <a:t>Seguro y medible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42062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8 capas de guardrails, tracing en LangSmith con tokens y costo, y feedback 👍/👎 conectado a cada trace.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responde Coach una consulta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31520" cy="731520"/>
          </a:xfrm>
          <a:prstGeom prst="ellipse">
            <a:avLst/>
          </a:prstGeom>
          <a:solidFill>
            <a:srgbClr val="1168BD"/>
          </a:solidFill>
          <a:ln w="12700">
            <a:solidFill>
              <a:srgbClr val="1168B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547165"/>
            <a:ext cx="380390" cy="3803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38988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</a:rPr>
              <a:t>1. El cliente pregunta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38988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“¿Dónde está mi pedido UF-1006?” desde la web, con sesión de Firebase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731520" cy="731520"/>
          </a:xfrm>
          <a:prstGeom prst="ellipse">
            <a:avLst/>
          </a:prstGeom>
          <a:solidFill>
            <a:srgbClr val="1168BD"/>
          </a:solidFill>
          <a:ln w="12700">
            <a:solidFill>
              <a:srgbClr val="1168B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250728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235000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</a:rPr>
              <a:t>2. Guardrails filtran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4846320" y="235000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8 capas: secretos, prompt injection, toxicidad, PII, URLs y 2 clasificadores LLM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291840"/>
            <a:ext cx="731520" cy="73152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3467405"/>
            <a:ext cx="380390" cy="38039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31012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</a:rPr>
              <a:t>3. El agente decide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846320" y="331012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Elige la herramienta: política (RAG), envío, reembolso, stock (MCP) o skill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4251960"/>
            <a:ext cx="731520" cy="731520"/>
          </a:xfrm>
          <a:prstGeom prst="ellipse">
            <a:avLst/>
          </a:prstGeom>
          <a:solidFill>
            <a:srgbClr val="1168BD"/>
          </a:solidFill>
          <a:ln w="12700">
            <a:solidFill>
              <a:srgbClr val="1168B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4427525"/>
            <a:ext cx="380390" cy="38039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427024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</a:rPr>
              <a:t>4. Responde y registra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4846320" y="427024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Respuesta en segundos; la conversación queda en la tabla history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548640" y="5212080"/>
            <a:ext cx="731520" cy="731520"/>
          </a:xfrm>
          <a:prstGeom prst="ellipse">
            <a:avLst/>
          </a:prstGeom>
          <a:solidFill>
            <a:srgbClr val="1168BD"/>
          </a:solidFill>
          <a:ln w="12700">
            <a:solidFill>
              <a:srgbClr val="1168B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5" y="5387645"/>
            <a:ext cx="380390" cy="38039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508760" y="523036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3"/>
                </a:solidFill>
              </a:rPr>
              <a:t>5. Se mide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4846320" y="523036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Trace en LangSmith con tokens y costo; el 👍/👎 se asocia al trace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Arquitectura: diagrama de contenedores C4 nivel 2</a:t>
            </a:r>
            <a:endParaRPr lang="en-US" sz="3600" dirty="0"/>
          </a:p>
        </p:txBody>
      </p:sp>
      <p:pic>
        <p:nvPicPr>
          <p:cNvPr id="3" name="Image 0" descr="Diagrama C4 nivel 2 de UFit Coa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234440"/>
            <a:ext cx="9537192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reutilizó la arquitectura y se reemplazó el dominio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566160"/>
                <a:gridCol w="4937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Requisito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Antes (labs del curso)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UFit Coach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</a:rPr>
                        <a:t>Base de conocimiento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10 docs de la academia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7 políticas de UFit · 53 chunks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</a:rPr>
                        <a:t>Data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Ventas genéricas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envios.json + tablas ufit_* en Neon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</a:rPr>
                        <a:t>Colección Qdrant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Colección de la academia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ufit_postventa_kb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</a:rPr>
                        <a:t>Tools del servicio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get_weather · skills de matrícula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rastrear_pedido · calcular_reembolso · devolución · cambio de talla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</a:rPr>
                        <a:t>MCP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Neon con todas sus tools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Neon con allowlist de 3 tools de lectura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3"/>
                          </a:solidFill>
                        </a:rPr>
                        <a:t>Tracing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Proyecto agent-llmops-obs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Proyecto ufit-coach · tags ufit-coach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9E44"/>
                </a:solidFill>
              </a:rPr>
              <a:t>Sin cambios: </a:t>
            </a:r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guardrails de 8 capas, hooks, feedback, historial, prompts versionados, evals, tracing (código) y todo el frontend (salvo la marca).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respuesta queda trazada y evaluada</a:t>
            </a:r>
            <a:endParaRPr lang="en-US" sz="3600" dirty="0"/>
          </a:p>
        </p:txBody>
      </p:sp>
      <p:sp>
        <p:nvSpPr>
          <p:cNvPr id="3" name="obs0"/>
          <p:cNvSpPr/>
          <p:nvPr/>
        </p:nvSpPr>
        <p:spPr>
          <a:xfrm>
            <a:off x="548640" y="137160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68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5,495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231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tokens en la consulta de stock (MCP)</a:t>
            </a:r>
            <a:endParaRPr lang="en-US" sz="1500" dirty="0"/>
          </a:p>
        </p:txBody>
      </p:sp>
      <p:sp>
        <p:nvSpPr>
          <p:cNvPr id="6" name="obs1"/>
          <p:cNvSpPr/>
          <p:nvPr/>
        </p:nvSpPr>
        <p:spPr>
          <a:xfrm>
            <a:off x="3383280" y="137160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68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$0.0006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4231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USD de costo por esa consulta</a:t>
            </a:r>
            <a:endParaRPr lang="en-US" sz="1500" dirty="0"/>
          </a:p>
        </p:txBody>
      </p:sp>
      <p:sp>
        <p:nvSpPr>
          <p:cNvPr id="9" name="obs2"/>
          <p:cNvSpPr/>
          <p:nvPr/>
        </p:nvSpPr>
        <p:spPr>
          <a:xfrm>
            <a:off x="6217920" y="137160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68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 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4231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latencia total con 8 guardrails</a:t>
            </a:r>
            <a:endParaRPr lang="en-US" sz="1500" dirty="0"/>
          </a:p>
        </p:txBody>
      </p:sp>
      <p:sp>
        <p:nvSpPr>
          <p:cNvPr id="12" name="obs3"/>
          <p:cNvSpPr/>
          <p:nvPr/>
        </p:nvSpPr>
        <p:spPr>
          <a:xfrm>
            <a:off x="9052560" y="137160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68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👍 = 1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4231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user_score enviado al trace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474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4A0"/>
                </a:solidFill>
              </a:rPr>
              <a:t>Medido en LangSmith, proyecto ufit-coach, trace chat_request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977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</a:rPr>
              <a:t>Trace por consulta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977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trace_id compartido entre la API, la tabla history y LangSmith; spans de guardrails, modelo y tools.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091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</a:rPr>
              <a:t>Feedback humano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709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POST /api/feedback guarda is_ok en la BD y envía user_score al trace.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40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</a:rPr>
              <a:t>Evaluación offline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54406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4C59"/>
                </a:solidFill>
              </a:rPr>
              <a:t>Golden set de 26 casos: RAG, tools, MCP, skills y guardrails, con 4 evaluadores y umbrales de calidad.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esperado en la operación de UFit</a:t>
            </a:r>
            <a:endParaRPr lang="en-US" sz="3600" dirty="0"/>
          </a:p>
        </p:txBody>
      </p:sp>
      <p:sp>
        <p:nvSpPr>
          <p:cNvPr id="3" name="imp0"/>
          <p:cNvSpPr/>
          <p:nvPr/>
        </p:nvSpPr>
        <p:spPr>
          <a:xfrm>
            <a:off x="548640" y="13716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h → &lt; 10 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14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9"/>
                </a:solidFill>
              </a:rPr>
              <a:t>tiempo de primera respuesta</a:t>
            </a:r>
            <a:endParaRPr lang="en-US" sz="1700" dirty="0"/>
          </a:p>
        </p:txBody>
      </p:sp>
      <p:sp>
        <p:nvSpPr>
          <p:cNvPr id="6" name="imp1"/>
          <p:cNvSpPr/>
          <p:nvPr/>
        </p:nvSpPr>
        <p:spPr>
          <a:xfrm>
            <a:off x="6126480" y="13716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68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~60 %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5146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9"/>
                </a:solidFill>
              </a:rPr>
              <a:t>consultas resueltas sin un agente humano</a:t>
            </a:r>
            <a:endParaRPr lang="en-US" sz="1700" dirty="0"/>
          </a:p>
        </p:txBody>
      </p:sp>
      <p:sp>
        <p:nvSpPr>
          <p:cNvPr id="9" name="imp2"/>
          <p:cNvSpPr/>
          <p:nvPr/>
        </p:nvSpPr>
        <p:spPr>
          <a:xfrm>
            <a:off x="548640" y="356616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3794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9E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7091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9"/>
                </a:solidFill>
              </a:rPr>
              <a:t>atención, incluidas noches y fines de semana</a:t>
            </a:r>
            <a:endParaRPr lang="en-US" sz="1700" dirty="0"/>
          </a:p>
        </p:txBody>
      </p:sp>
      <p:sp>
        <p:nvSpPr>
          <p:cNvPr id="12" name="imp3"/>
          <p:cNvSpPr/>
          <p:nvPr/>
        </p:nvSpPr>
        <p:spPr>
          <a:xfrm>
            <a:off x="6126480" y="356616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794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$0.02 MXN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7091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9"/>
                </a:solidFill>
              </a:rPr>
              <a:t>costo de modelo por consulta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0"/>
                </a:solidFill>
              </a:rPr>
              <a:t>Proyecciones conservadoras del caso de estudio; el costo por consulta sale del trace medido (USD 0.0006).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próximos pasos</a:t>
            </a:r>
            <a:endParaRPr lang="en-US" sz="3600" dirty="0"/>
          </a:p>
        </p:txBody>
      </p:sp>
      <p:sp>
        <p:nvSpPr>
          <p:cNvPr id="3" name="concl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235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4" name="next"/>
          <p:cNvSpPr/>
          <p:nvPr/>
        </p:nvSpPr>
        <p:spPr>
          <a:xfrm>
            <a:off x="6217920" y="1371600"/>
            <a:ext cx="5394960" cy="4663440"/>
          </a:xfrm>
          <a:prstGeom prst="roundRect">
            <a:avLst>
              <a:gd name="adj" fmla="val 2353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68BD"/>
                </a:solidFill>
              </a:rPr>
              <a:t>Conclusiones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Una arquitectura agéntica bien separada se reutiliza: cambiar de dominio fue cambiar KB, data, tools y prompt.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Los cálculos de negocio van en tools deterministas, no en el LLM.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MCP con mínimo privilegio: de más de 100 tools de Neon, el agente solo usa 3 de lectura.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Fail-close tiene un costo: los timeouts de Groq bloqueaban consultas legítimas, así que se ajustó el timeout.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53796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590C"/>
                </a:solidFill>
              </a:rPr>
              <a:t>Próximos pasos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14884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Integrar la API real de las paqueterías (Estafeta, FedEx, DHL).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PII de México en la capa 5 (CURP, RFC, teléfonos de 10 dígitos).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Despliegue en Cloud Run con el CI/CD y canary del lab 06.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Online evals en LangSmith y feedback negativo → golden set.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</a:rPr>
              <a:t>Escalar a humano por WhatsApp cuando haya una incidencia abierta.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Fit Coach">
  <a:themeElements>
    <a:clrScheme name="UFit Coach">
      <a:dk1>
        <a:srgbClr val="1F2933"/>
      </a:dk1>
      <a:lt1>
        <a:srgbClr val="FFFFFF"/>
      </a:lt1>
      <a:dk2>
        <a:srgbClr val="3E4C59"/>
      </a:dk2>
      <a:lt2>
        <a:srgbClr val="F4F5F7"/>
      </a:lt2>
      <a:accent1>
        <a:srgbClr val="E8590C"/>
      </a:accent1>
      <a:accent2>
        <a:srgbClr val="1168BD"/>
      </a:accent2>
      <a:accent3>
        <a:srgbClr val="2F9E44"/>
      </a:accent3>
      <a:accent4>
        <a:srgbClr val="F59F00"/>
      </a:accent4>
      <a:accent5>
        <a:srgbClr val="6B6B6B"/>
      </a:accent5>
      <a:accent6>
        <a:srgbClr val="C92A2A"/>
      </a:accent6>
      <a:hlink>
        <a:srgbClr val="1168BD"/>
      </a:hlink>
      <a:folHlink>
        <a:srgbClr val="6B6B6B"/>
      </a:folHlink>
    </a:clrScheme>
    <a:fontScheme name="UFit Coac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UFit Coach — Proyecto final AI Solution Architect</dc:title>
  <dc:subject>PptxGenJS Presentation</dc:subject>
  <dc:creator>Manu BL</dc:creator>
  <cp:lastModifiedBy>Manu BL</cp:lastModifiedBy>
  <cp:revision>1</cp:revision>
  <dcterms:created xsi:type="dcterms:W3CDTF">2026-10-18T01:07:17Z</dcterms:created>
  <dcterms:modified xsi:type="dcterms:W3CDTF">2026-10-18T01:07:17Z</dcterms:modified>
</cp:coreProperties>
</file>